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81" r:id="rId4"/>
    <p:sldId id="282" r:id="rId5"/>
    <p:sldId id="283" r:id="rId6"/>
    <p:sldId id="257" r:id="rId7"/>
    <p:sldId id="285" r:id="rId8"/>
    <p:sldId id="286" r:id="rId9"/>
    <p:sldId id="287"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8" r:id="rId24"/>
    <p:sldId id="289" r:id="rId25"/>
    <p:sldId id="26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3" d="100"/>
          <a:sy n="63" d="100"/>
        </p:scale>
        <p:origin x="1426"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157F-B7DA-5334-2A36-5C887D48D7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0B9BAA-D1A0-DE56-39C2-11FB9EEEC8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8AFEC2-AEEB-8024-C8E6-4778036BD946}"/>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CC8B3EDF-BC6D-8354-28A6-0BA879B552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1E1F1-227E-E1DC-191D-E9A2526EBE63}"/>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76576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99B1A-2973-8BAE-2AE7-4F9698C5FE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E5C96F-4BCA-0DAB-1EAB-4DF17508D4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C948B1-71D9-2C3D-CA3F-D45292036A86}"/>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253C06ED-B329-F235-CDA9-A3FCBCD3C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1E9088-7C03-72BD-C9FC-35B1D8093DF0}"/>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1065955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6957D-2B7A-1AA4-A68D-EDCFE5A01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FBC548-4B9F-A2EC-6705-24EFF0E621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2A0380-419D-C61A-4AB2-CD5EDE6912ED}"/>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56275FE5-7B98-2B5D-BE7F-C80863FA1B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4484AD-FE5B-8132-4BCC-89EA407D8513}"/>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3757986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1A49F-8F28-8819-66AF-1FFB5ABE61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96A656-2D68-53C9-AE07-3D6B10F237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79748F-3FC9-1CC2-6EB8-4E0A6F38B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1745AA-4EF7-4B7B-AB03-AAF3B67F3ACC}"/>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6" name="Footer Placeholder 5">
            <a:extLst>
              <a:ext uri="{FF2B5EF4-FFF2-40B4-BE49-F238E27FC236}">
                <a16:creationId xmlns:a16="http://schemas.microsoft.com/office/drawing/2014/main" id="{AAA2C195-E747-F453-A1BB-414F26C8F3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52539D-1C45-E207-2187-B385279611A3}"/>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1203102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FCDA-0D17-D61B-43C7-6CEFB6A250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7A250C-9F5B-D5B6-A1BB-566590B9E1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9140A-9DFC-CBBF-5C50-76C971B450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39B91C-34A7-AFD6-99D3-3A42D9DCEA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7CE6A1-075E-365D-08C7-16276462B2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92CC50-0327-3B43-160A-22AA537E66B3}"/>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8" name="Footer Placeholder 7">
            <a:extLst>
              <a:ext uri="{FF2B5EF4-FFF2-40B4-BE49-F238E27FC236}">
                <a16:creationId xmlns:a16="http://schemas.microsoft.com/office/drawing/2014/main" id="{F875EB7C-9E1F-E4BC-740E-910C9DEC0F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B647C3-CB85-9ADC-D3CC-23E42B657CE1}"/>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281452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807DD-74BC-47E2-BB33-8C1FFF4A26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27B55B-25B7-78A9-15E8-3214C25FEBEC}"/>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4" name="Footer Placeholder 3">
            <a:extLst>
              <a:ext uri="{FF2B5EF4-FFF2-40B4-BE49-F238E27FC236}">
                <a16:creationId xmlns:a16="http://schemas.microsoft.com/office/drawing/2014/main" id="{346D867D-FF5C-4B94-11FC-8383D20EBB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CBFB44-79E5-F0E5-E3CC-C53DD3848863}"/>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2880300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2EA85C-01C5-F73E-9FA5-73F6311205D4}"/>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3" name="Footer Placeholder 2">
            <a:extLst>
              <a:ext uri="{FF2B5EF4-FFF2-40B4-BE49-F238E27FC236}">
                <a16:creationId xmlns:a16="http://schemas.microsoft.com/office/drawing/2014/main" id="{3CD33C21-B7B7-B6DF-B0E7-9FBEEDCDB9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2D3F32-EE62-931E-8E64-8B21F4662173}"/>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2043320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D735-851D-38DC-F574-8408587C8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474B6A-12C0-D2CF-6401-10AF02475F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DAA5AE-3588-7C95-DCAE-EC7E16624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BBB2D-C822-00A0-4E5A-EFCCC252D304}"/>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6" name="Footer Placeholder 5">
            <a:extLst>
              <a:ext uri="{FF2B5EF4-FFF2-40B4-BE49-F238E27FC236}">
                <a16:creationId xmlns:a16="http://schemas.microsoft.com/office/drawing/2014/main" id="{7E012558-38A3-359D-FB9E-93B8F0A7C0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60C9C0-D738-ECC6-3664-46E14CAA471C}"/>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3688275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FD909-9702-07BE-562F-1AD25F8190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A2A64E-C10A-E6C2-2FFB-CF086F60C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4B0F98-59A6-2EB7-FFFE-88320AA80B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71EF5-FAAB-5E2F-4495-25D273B8B91B}"/>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6" name="Footer Placeholder 5">
            <a:extLst>
              <a:ext uri="{FF2B5EF4-FFF2-40B4-BE49-F238E27FC236}">
                <a16:creationId xmlns:a16="http://schemas.microsoft.com/office/drawing/2014/main" id="{AC1A57D0-C752-821B-C730-25E91F23E7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CDE827-EBEE-1DA0-6CE4-3DE93B40E281}"/>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829217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29BB-0D54-1A2F-46B6-4CF6B059A5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B44EAF-C251-8C36-FC32-EEE4F14558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E4211E-4CBB-F225-CCDB-8D8C67F02914}"/>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B392EB0A-5E7A-31BC-E4E3-286AEEE8BC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52544-8B44-5994-CC26-616523881C08}"/>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814911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8C8906-4C71-E9F9-B078-61EED6BE31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FB02C0-835F-0812-BD81-6690FE037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990938-FDC9-D3BB-F7CD-F990AAFF4978}"/>
              </a:ext>
            </a:extLst>
          </p:cNvPr>
          <p:cNvSpPr>
            <a:spLocks noGrp="1"/>
          </p:cNvSpPr>
          <p:nvPr>
            <p:ph type="dt" sz="half" idx="10"/>
          </p:nvPr>
        </p:nvSpPr>
        <p:spPr/>
        <p:txBody>
          <a:body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597FBDA6-B866-725C-F5D1-E156E2F2F7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FDAAD3-9F12-5F6C-D6A0-810AF0BCBECE}"/>
              </a:ext>
            </a:extLst>
          </p:cNvPr>
          <p:cNvSpPr>
            <a:spLocks noGrp="1"/>
          </p:cNvSpPr>
          <p:nvPr>
            <p:ph type="sldNum" sz="quarter" idx="12"/>
          </p:nvPr>
        </p:nvSpPr>
        <p:spPr/>
        <p:txBody>
          <a:bodyPr/>
          <a:lstStyle/>
          <a:p>
            <a:fld id="{B882ABAD-26BF-4757-8107-231C144068F9}" type="slidenum">
              <a:rPr lang="en-IN" smtClean="0"/>
              <a:t>‹#›</a:t>
            </a:fld>
            <a:endParaRPr lang="en-IN"/>
          </a:p>
        </p:txBody>
      </p:sp>
    </p:spTree>
    <p:extLst>
      <p:ext uri="{BB962C8B-B14F-4D97-AF65-F5344CB8AC3E}">
        <p14:creationId xmlns:p14="http://schemas.microsoft.com/office/powerpoint/2010/main" val="2705050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666A3-741C-BA31-DA24-07CBE110A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23070E-EEEC-7327-72FD-3B0533F5AA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7A197E-349C-5882-20DD-D1AE77236E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965EDE-A042-4BC5-93A5-730E3DD5C701}" type="datetimeFigureOut">
              <a:rPr lang="en-IN" smtClean="0"/>
              <a:t>17-09-2025</a:t>
            </a:fld>
            <a:endParaRPr lang="en-IN"/>
          </a:p>
        </p:txBody>
      </p:sp>
      <p:sp>
        <p:nvSpPr>
          <p:cNvPr id="5" name="Footer Placeholder 4">
            <a:extLst>
              <a:ext uri="{FF2B5EF4-FFF2-40B4-BE49-F238E27FC236}">
                <a16:creationId xmlns:a16="http://schemas.microsoft.com/office/drawing/2014/main" id="{92E9B7EF-FEB5-F398-C448-9A77C12181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7C0A5B2-A01A-78D1-B75B-D266F2C641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82ABAD-26BF-4757-8107-231C144068F9}" type="slidenum">
              <a:rPr lang="en-IN" smtClean="0"/>
              <a:t>‹#›</a:t>
            </a:fld>
            <a:endParaRPr lang="en-IN"/>
          </a:p>
        </p:txBody>
      </p:sp>
    </p:spTree>
    <p:extLst>
      <p:ext uri="{BB962C8B-B14F-4D97-AF65-F5344CB8AC3E}">
        <p14:creationId xmlns:p14="http://schemas.microsoft.com/office/powerpoint/2010/main" val="3976130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FllcPjvztTI" TargetMode="External"/><Relationship Id="rId2" Type="http://schemas.openxmlformats.org/officeDocument/2006/relationships/hyperlink" Target="https://www.youtube.com/watch?v=3tLdD-4-wn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CAD4-EF55-EC70-A631-57C043BC5F6C}"/>
              </a:ext>
            </a:extLst>
          </p:cNvPr>
          <p:cNvSpPr>
            <a:spLocks noGrp="1"/>
          </p:cNvSpPr>
          <p:nvPr>
            <p:ph type="ctrTitle"/>
          </p:nvPr>
        </p:nvSpPr>
        <p:spPr/>
        <p:txBody>
          <a:bodyPr>
            <a:normAutofit fontScale="90000"/>
          </a:bodyPr>
          <a:lstStyle/>
          <a:p>
            <a:r>
              <a:rPr lang="en-US" dirty="0"/>
              <a:t>Module 3</a:t>
            </a:r>
            <a:br>
              <a:rPr lang="en-US" dirty="0"/>
            </a:br>
            <a:r>
              <a:rPr lang="en-US" dirty="0"/>
              <a:t>Ensemble Learning</a:t>
            </a:r>
            <a:br>
              <a:rPr lang="en-US" dirty="0"/>
            </a:br>
            <a:r>
              <a:rPr lang="en-US" sz="3600" dirty="0" err="1"/>
              <a:t>Kmeans</a:t>
            </a:r>
            <a:r>
              <a:rPr lang="en-US" sz="3600" dirty="0"/>
              <a:t> Clustering- Unsupervised Machine Learning</a:t>
            </a:r>
            <a:endParaRPr lang="en-IN" sz="3600" dirty="0"/>
          </a:p>
        </p:txBody>
      </p:sp>
      <p:sp>
        <p:nvSpPr>
          <p:cNvPr id="3" name="Subtitle 2">
            <a:extLst>
              <a:ext uri="{FF2B5EF4-FFF2-40B4-BE49-F238E27FC236}">
                <a16:creationId xmlns:a16="http://schemas.microsoft.com/office/drawing/2014/main" id="{DC0F34CC-E808-6095-9F10-8532A2157C60}"/>
              </a:ext>
            </a:extLst>
          </p:cNvPr>
          <p:cNvSpPr>
            <a:spLocks noGrp="1"/>
          </p:cNvSpPr>
          <p:nvPr>
            <p:ph type="subTitle" idx="1"/>
          </p:nvPr>
        </p:nvSpPr>
        <p:spPr/>
        <p:txBody>
          <a:bodyPr/>
          <a:lstStyle/>
          <a:p>
            <a:r>
              <a:rPr lang="en-US" dirty="0"/>
              <a:t>Raghu Prasad K S</a:t>
            </a:r>
          </a:p>
          <a:p>
            <a:r>
              <a:rPr lang="en-US" dirty="0"/>
              <a:t>9845547471</a:t>
            </a:r>
            <a:endParaRPr lang="en-IN" dirty="0"/>
          </a:p>
        </p:txBody>
      </p:sp>
    </p:spTree>
    <p:extLst>
      <p:ext uri="{BB962C8B-B14F-4D97-AF65-F5344CB8AC3E}">
        <p14:creationId xmlns:p14="http://schemas.microsoft.com/office/powerpoint/2010/main" val="2246041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A5ABA-137D-B44B-61C9-E9141110A651}"/>
              </a:ext>
            </a:extLst>
          </p:cNvPr>
          <p:cNvSpPr>
            <a:spLocks noGrp="1"/>
          </p:cNvSpPr>
          <p:nvPr>
            <p:ph type="title"/>
          </p:nvPr>
        </p:nvSpPr>
        <p:spPr/>
        <p:txBody>
          <a:bodyPr/>
          <a:lstStyle/>
          <a:p>
            <a:r>
              <a:rPr lang="en-US" dirty="0"/>
              <a:t>Unsupervised Machine Learning</a:t>
            </a:r>
            <a:endParaRPr lang="en-IN" dirty="0"/>
          </a:p>
        </p:txBody>
      </p:sp>
      <p:sp>
        <p:nvSpPr>
          <p:cNvPr id="3" name="Content Placeholder 2">
            <a:extLst>
              <a:ext uri="{FF2B5EF4-FFF2-40B4-BE49-F238E27FC236}">
                <a16:creationId xmlns:a16="http://schemas.microsoft.com/office/drawing/2014/main" id="{378990A1-6F2C-A14C-E88F-40BBDDC77A96}"/>
              </a:ext>
            </a:extLst>
          </p:cNvPr>
          <p:cNvSpPr>
            <a:spLocks noGrp="1"/>
          </p:cNvSpPr>
          <p:nvPr>
            <p:ph idx="1"/>
          </p:nvPr>
        </p:nvSpPr>
        <p:spPr/>
        <p:txBody>
          <a:bodyPr>
            <a:normAutofit fontScale="92500"/>
          </a:bodyPr>
          <a:lstStyle/>
          <a:p>
            <a:r>
              <a:rPr lang="en-US" dirty="0"/>
              <a:t>Unsupervised Machine Learning is a type of machine learning where algorithms are trained on </a:t>
            </a:r>
            <a:r>
              <a:rPr lang="en-US" b="1" dirty="0"/>
              <a:t>unlabeled data</a:t>
            </a:r>
            <a:r>
              <a:rPr lang="en-US" dirty="0"/>
              <a:t> — meaning the dataset does not contain predefined outputs or categories. Instead of learning from examples with correct answers, the system tries to </a:t>
            </a:r>
            <a:r>
              <a:rPr lang="en-US" b="1" dirty="0"/>
              <a:t>discover hidden patterns, structures, or groupings</a:t>
            </a:r>
            <a:r>
              <a:rPr lang="en-US" dirty="0"/>
              <a:t> in the data by itself.</a:t>
            </a:r>
          </a:p>
          <a:p>
            <a:pPr marL="0" indent="0">
              <a:buNone/>
            </a:pPr>
            <a:r>
              <a:rPr lang="en-US" b="1" dirty="0"/>
              <a:t>Key Characteristics</a:t>
            </a:r>
          </a:p>
          <a:p>
            <a:r>
              <a:rPr lang="en-US" b="1" dirty="0"/>
              <a:t>No labels</a:t>
            </a:r>
            <a:r>
              <a:rPr lang="en-US" dirty="0"/>
              <a:t>: Only input features are provided, no target/output values.</a:t>
            </a:r>
          </a:p>
          <a:p>
            <a:r>
              <a:rPr lang="en-US" b="1" dirty="0"/>
              <a:t>Goal</a:t>
            </a:r>
            <a:r>
              <a:rPr lang="en-US" dirty="0"/>
              <a:t>: To find structure, relationships, or representation of the data.</a:t>
            </a:r>
          </a:p>
          <a:p>
            <a:r>
              <a:rPr lang="en-US" b="1" dirty="0"/>
              <a:t>Exploratory</a:t>
            </a:r>
            <a:r>
              <a:rPr lang="en-US" dirty="0"/>
              <a:t>: Often used to understand data before applying other methods.</a:t>
            </a:r>
          </a:p>
          <a:p>
            <a:endParaRPr lang="en-IN" dirty="0"/>
          </a:p>
        </p:txBody>
      </p:sp>
    </p:spTree>
    <p:extLst>
      <p:ext uri="{BB962C8B-B14F-4D97-AF65-F5344CB8AC3E}">
        <p14:creationId xmlns:p14="http://schemas.microsoft.com/office/powerpoint/2010/main" val="291823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94C7-18D2-44CC-CAC2-D48EB8027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77F7E-F407-0BE6-E69F-E124FF43ED51}"/>
              </a:ext>
            </a:extLst>
          </p:cNvPr>
          <p:cNvSpPr>
            <a:spLocks noGrp="1"/>
          </p:cNvSpPr>
          <p:nvPr>
            <p:ph type="title"/>
          </p:nvPr>
        </p:nvSpPr>
        <p:spPr/>
        <p:txBody>
          <a:bodyPr/>
          <a:lstStyle/>
          <a:p>
            <a:r>
              <a:rPr lang="en-US" dirty="0"/>
              <a:t>Unsupervised Machine Learning</a:t>
            </a:r>
            <a:endParaRPr lang="en-IN" dirty="0"/>
          </a:p>
        </p:txBody>
      </p:sp>
      <p:sp>
        <p:nvSpPr>
          <p:cNvPr id="3" name="Content Placeholder 2">
            <a:extLst>
              <a:ext uri="{FF2B5EF4-FFF2-40B4-BE49-F238E27FC236}">
                <a16:creationId xmlns:a16="http://schemas.microsoft.com/office/drawing/2014/main" id="{FE24D21B-2082-B965-6BA7-895F3C99B1DB}"/>
              </a:ext>
            </a:extLst>
          </p:cNvPr>
          <p:cNvSpPr>
            <a:spLocks noGrp="1"/>
          </p:cNvSpPr>
          <p:nvPr>
            <p:ph idx="1"/>
          </p:nvPr>
        </p:nvSpPr>
        <p:spPr/>
        <p:txBody>
          <a:bodyPr>
            <a:normAutofit fontScale="92500" lnSpcReduction="20000"/>
          </a:bodyPr>
          <a:lstStyle/>
          <a:p>
            <a:r>
              <a:rPr lang="en-US" b="1" dirty="0"/>
              <a:t>Common Techniques</a:t>
            </a:r>
          </a:p>
          <a:p>
            <a:pPr marL="0" indent="0">
              <a:buNone/>
            </a:pPr>
            <a:r>
              <a:rPr lang="en-US" b="1" dirty="0"/>
              <a:t>1. Clustering</a:t>
            </a:r>
            <a:endParaRPr lang="en-US" dirty="0"/>
          </a:p>
          <a:p>
            <a:pPr lvl="1"/>
            <a:r>
              <a:rPr lang="en-US" dirty="0"/>
              <a:t>Grouping similar data points together.</a:t>
            </a:r>
          </a:p>
          <a:p>
            <a:pPr lvl="1"/>
            <a:r>
              <a:rPr lang="en-US" dirty="0"/>
              <a:t>Examples:</a:t>
            </a:r>
          </a:p>
          <a:p>
            <a:pPr lvl="2"/>
            <a:r>
              <a:rPr lang="en-US" b="1" dirty="0"/>
              <a:t>K-Means Clustering</a:t>
            </a:r>
            <a:endParaRPr lang="en-US" dirty="0"/>
          </a:p>
          <a:p>
            <a:pPr lvl="2"/>
            <a:r>
              <a:rPr lang="en-US" b="1" dirty="0"/>
              <a:t>Hierarchical Clustering</a:t>
            </a:r>
            <a:endParaRPr lang="en-US" dirty="0"/>
          </a:p>
          <a:p>
            <a:pPr lvl="2"/>
            <a:r>
              <a:rPr lang="en-US" b="1" dirty="0"/>
              <a:t>DBSCAN</a:t>
            </a:r>
            <a:endParaRPr lang="en-US" dirty="0"/>
          </a:p>
          <a:p>
            <a:pPr marL="0" indent="0">
              <a:buNone/>
            </a:pPr>
            <a:r>
              <a:rPr lang="en-US" b="1" dirty="0"/>
              <a:t>2. Dimensionality Reduction</a:t>
            </a:r>
            <a:endParaRPr lang="en-US" dirty="0"/>
          </a:p>
          <a:p>
            <a:r>
              <a:rPr lang="en-US" dirty="0"/>
              <a:t>Reducing the number of features while preserving important information.</a:t>
            </a:r>
          </a:p>
          <a:p>
            <a:r>
              <a:rPr lang="en-US" dirty="0"/>
              <a:t>Examples:</a:t>
            </a:r>
          </a:p>
          <a:p>
            <a:pPr lvl="1"/>
            <a:r>
              <a:rPr lang="en-US" b="1" dirty="0"/>
              <a:t>Principal Component Analysis (PCA)</a:t>
            </a:r>
            <a:endParaRPr lang="en-US" dirty="0"/>
          </a:p>
          <a:p>
            <a:pPr lvl="1"/>
            <a:r>
              <a:rPr lang="en-US" b="1" dirty="0"/>
              <a:t>t-SNE</a:t>
            </a:r>
            <a:endParaRPr lang="en-US" dirty="0"/>
          </a:p>
          <a:p>
            <a:pPr lvl="1"/>
            <a:r>
              <a:rPr lang="en-US" b="1" dirty="0"/>
              <a:t>Autoencoders</a:t>
            </a:r>
            <a:endParaRPr lang="en-US" dirty="0"/>
          </a:p>
          <a:p>
            <a:endParaRPr lang="en-IN" dirty="0"/>
          </a:p>
        </p:txBody>
      </p:sp>
    </p:spTree>
    <p:extLst>
      <p:ext uri="{BB962C8B-B14F-4D97-AF65-F5344CB8AC3E}">
        <p14:creationId xmlns:p14="http://schemas.microsoft.com/office/powerpoint/2010/main" val="1215641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C1EF-29D6-800B-F781-58CDB3210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B2F55-7FC3-F4AE-71B9-6B007DE1AFEC}"/>
              </a:ext>
            </a:extLst>
          </p:cNvPr>
          <p:cNvSpPr>
            <a:spLocks noGrp="1"/>
          </p:cNvSpPr>
          <p:nvPr>
            <p:ph type="title"/>
          </p:nvPr>
        </p:nvSpPr>
        <p:spPr/>
        <p:txBody>
          <a:bodyPr/>
          <a:lstStyle/>
          <a:p>
            <a:r>
              <a:rPr lang="en-US" dirty="0"/>
              <a:t>Unsupervised Machine Learning</a:t>
            </a:r>
            <a:endParaRPr lang="en-IN" dirty="0"/>
          </a:p>
        </p:txBody>
      </p:sp>
      <p:sp>
        <p:nvSpPr>
          <p:cNvPr id="3" name="Content Placeholder 2">
            <a:extLst>
              <a:ext uri="{FF2B5EF4-FFF2-40B4-BE49-F238E27FC236}">
                <a16:creationId xmlns:a16="http://schemas.microsoft.com/office/drawing/2014/main" id="{538BAD0E-EDB0-7960-FFC7-08DB9B4A57BD}"/>
              </a:ext>
            </a:extLst>
          </p:cNvPr>
          <p:cNvSpPr>
            <a:spLocks noGrp="1"/>
          </p:cNvSpPr>
          <p:nvPr>
            <p:ph idx="1"/>
          </p:nvPr>
        </p:nvSpPr>
        <p:spPr/>
        <p:txBody>
          <a:bodyPr>
            <a:normAutofit/>
          </a:bodyPr>
          <a:lstStyle/>
          <a:p>
            <a:pPr marL="0" indent="0">
              <a:buNone/>
            </a:pPr>
            <a:r>
              <a:rPr lang="en-US" b="1" dirty="0"/>
              <a:t>3. Association Rule Learning</a:t>
            </a:r>
            <a:endParaRPr lang="en-US" dirty="0"/>
          </a:p>
          <a:p>
            <a:r>
              <a:rPr lang="en-US" dirty="0"/>
              <a:t>Finding relationships between variables in large datasets.</a:t>
            </a:r>
          </a:p>
          <a:p>
            <a:r>
              <a:rPr lang="en-US" dirty="0"/>
              <a:t>Example:</a:t>
            </a:r>
          </a:p>
          <a:p>
            <a:pPr lvl="1"/>
            <a:r>
              <a:rPr lang="en-US" dirty="0"/>
              <a:t>Market Basket Analysis (e.g., “Customers who buy bread also buy butter”).</a:t>
            </a:r>
          </a:p>
          <a:p>
            <a:pPr marL="0" indent="0">
              <a:buNone/>
            </a:pPr>
            <a:r>
              <a:rPr lang="en-US" b="1" dirty="0"/>
              <a:t>4. Anomaly Detection</a:t>
            </a:r>
            <a:endParaRPr lang="en-US" dirty="0"/>
          </a:p>
          <a:p>
            <a:r>
              <a:rPr lang="en-US" dirty="0"/>
              <a:t>Identifying unusual data points that don’t fit the general pattern.</a:t>
            </a:r>
          </a:p>
          <a:p>
            <a:r>
              <a:rPr lang="en-US" dirty="0"/>
              <a:t>Useful in fraud detection, network intrusion, etc.</a:t>
            </a:r>
          </a:p>
          <a:p>
            <a:pPr marL="0" indent="0">
              <a:buNone/>
            </a:pPr>
            <a:endParaRPr lang="en-IN" dirty="0"/>
          </a:p>
        </p:txBody>
      </p:sp>
    </p:spTree>
    <p:extLst>
      <p:ext uri="{BB962C8B-B14F-4D97-AF65-F5344CB8AC3E}">
        <p14:creationId xmlns:p14="http://schemas.microsoft.com/office/powerpoint/2010/main" val="210719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E09A9-79B9-459E-406F-216DDA96E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CC606-1E13-105E-54FE-E0AB60AF0B4D}"/>
              </a:ext>
            </a:extLst>
          </p:cNvPr>
          <p:cNvSpPr>
            <a:spLocks noGrp="1"/>
          </p:cNvSpPr>
          <p:nvPr>
            <p:ph type="title"/>
          </p:nvPr>
        </p:nvSpPr>
        <p:spPr/>
        <p:txBody>
          <a:bodyPr/>
          <a:lstStyle/>
          <a:p>
            <a:r>
              <a:rPr lang="en-US" dirty="0"/>
              <a:t>Unsupervised Machine Learning</a:t>
            </a:r>
            <a:endParaRPr lang="en-IN" dirty="0"/>
          </a:p>
        </p:txBody>
      </p:sp>
      <p:sp>
        <p:nvSpPr>
          <p:cNvPr id="3" name="Content Placeholder 2">
            <a:extLst>
              <a:ext uri="{FF2B5EF4-FFF2-40B4-BE49-F238E27FC236}">
                <a16:creationId xmlns:a16="http://schemas.microsoft.com/office/drawing/2014/main" id="{429EACD3-74EF-C3CD-0355-5E83A3203322}"/>
              </a:ext>
            </a:extLst>
          </p:cNvPr>
          <p:cNvSpPr>
            <a:spLocks noGrp="1"/>
          </p:cNvSpPr>
          <p:nvPr>
            <p:ph idx="1"/>
          </p:nvPr>
        </p:nvSpPr>
        <p:spPr/>
        <p:txBody>
          <a:bodyPr>
            <a:normAutofit/>
          </a:bodyPr>
          <a:lstStyle/>
          <a:p>
            <a:pPr marL="0" indent="0">
              <a:buNone/>
            </a:pPr>
            <a:r>
              <a:rPr lang="en-IN" b="1" dirty="0"/>
              <a:t>Real-World Applications</a:t>
            </a:r>
          </a:p>
          <a:p>
            <a:r>
              <a:rPr lang="en-IN" dirty="0"/>
              <a:t>Customer segmentation in marketing</a:t>
            </a:r>
          </a:p>
          <a:p>
            <a:r>
              <a:rPr lang="en-IN" dirty="0"/>
              <a:t>Fraud detection in banking</a:t>
            </a:r>
          </a:p>
          <a:p>
            <a:r>
              <a:rPr lang="en-IN" dirty="0"/>
              <a:t>Recommendation systems (e.g., Netflix, Amazon)</a:t>
            </a:r>
          </a:p>
          <a:p>
            <a:r>
              <a:rPr lang="en-IN" dirty="0"/>
              <a:t>Reducing noise in images (using autoencoders)</a:t>
            </a:r>
          </a:p>
          <a:p>
            <a:r>
              <a:rPr lang="en-IN" dirty="0"/>
              <a:t>Medical data analysis (grouping patients based on symptoms)</a:t>
            </a:r>
          </a:p>
          <a:p>
            <a:pPr marL="0" indent="0">
              <a:buNone/>
            </a:pPr>
            <a:endParaRPr lang="en-IN" dirty="0"/>
          </a:p>
        </p:txBody>
      </p:sp>
    </p:spTree>
    <p:extLst>
      <p:ext uri="{BB962C8B-B14F-4D97-AF65-F5344CB8AC3E}">
        <p14:creationId xmlns:p14="http://schemas.microsoft.com/office/powerpoint/2010/main" val="2689430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A422-B27E-2945-FC34-6FFD864A83FB}"/>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F314A7A8-B566-926F-59E7-2A54FA35B67C}"/>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FE32ABA4-99FA-2A0E-BC24-68A60197DEED}"/>
              </a:ext>
            </a:extLst>
          </p:cNvPr>
          <p:cNvPicPr>
            <a:picLocks noChangeAspect="1"/>
          </p:cNvPicPr>
          <p:nvPr/>
        </p:nvPicPr>
        <p:blipFill>
          <a:blip r:embed="rId2"/>
          <a:stretch>
            <a:fillRect/>
          </a:stretch>
        </p:blipFill>
        <p:spPr>
          <a:xfrm>
            <a:off x="789834" y="1897626"/>
            <a:ext cx="10612331" cy="3865324"/>
          </a:xfrm>
          <a:prstGeom prst="rect">
            <a:avLst/>
          </a:prstGeom>
        </p:spPr>
      </p:pic>
    </p:spTree>
    <p:extLst>
      <p:ext uri="{BB962C8B-B14F-4D97-AF65-F5344CB8AC3E}">
        <p14:creationId xmlns:p14="http://schemas.microsoft.com/office/powerpoint/2010/main" val="787926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AE78B-4BCD-D3F5-A2E3-8456F38D6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B7CF8-5CB7-5830-D1C7-4B594FE855F8}"/>
              </a:ext>
            </a:extLst>
          </p:cNvPr>
          <p:cNvSpPr>
            <a:spLocks noGrp="1"/>
          </p:cNvSpPr>
          <p:nvPr>
            <p:ph type="title"/>
          </p:nvPr>
        </p:nvSpPr>
        <p:spPr/>
        <p:txBody>
          <a:bodyPr/>
          <a:lstStyle/>
          <a:p>
            <a:r>
              <a:rPr lang="en-US" dirty="0"/>
              <a:t>K-Means Clustering - Algorithm</a:t>
            </a:r>
            <a:endParaRPr lang="en-IN" dirty="0"/>
          </a:p>
        </p:txBody>
      </p:sp>
      <p:sp>
        <p:nvSpPr>
          <p:cNvPr id="3" name="Content Placeholder 2">
            <a:extLst>
              <a:ext uri="{FF2B5EF4-FFF2-40B4-BE49-F238E27FC236}">
                <a16:creationId xmlns:a16="http://schemas.microsoft.com/office/drawing/2014/main" id="{C89FB7F2-F8F5-58A6-F39E-50AEA7808602}"/>
              </a:ext>
            </a:extLst>
          </p:cNvPr>
          <p:cNvSpPr>
            <a:spLocks noGrp="1"/>
          </p:cNvSpPr>
          <p:nvPr>
            <p:ph idx="1"/>
          </p:nvPr>
        </p:nvSpPr>
        <p:spPr/>
        <p:txBody>
          <a:bodyPr/>
          <a:lstStyle/>
          <a:p>
            <a:pPr marL="0" indent="0">
              <a:buNone/>
            </a:pPr>
            <a:r>
              <a:rPr lang="en-US" dirty="0"/>
              <a:t>•</a:t>
            </a:r>
            <a:endParaRPr lang="en-IN" dirty="0"/>
          </a:p>
        </p:txBody>
      </p:sp>
      <p:pic>
        <p:nvPicPr>
          <p:cNvPr id="6" name="Picture 5">
            <a:extLst>
              <a:ext uri="{FF2B5EF4-FFF2-40B4-BE49-F238E27FC236}">
                <a16:creationId xmlns:a16="http://schemas.microsoft.com/office/drawing/2014/main" id="{C09A3015-E43D-DF1D-86CC-8F978DE22C31}"/>
              </a:ext>
            </a:extLst>
          </p:cNvPr>
          <p:cNvPicPr>
            <a:picLocks noChangeAspect="1"/>
          </p:cNvPicPr>
          <p:nvPr/>
        </p:nvPicPr>
        <p:blipFill>
          <a:blip r:embed="rId2"/>
          <a:stretch>
            <a:fillRect/>
          </a:stretch>
        </p:blipFill>
        <p:spPr>
          <a:xfrm>
            <a:off x="1011936" y="1537641"/>
            <a:ext cx="9936479" cy="4639322"/>
          </a:xfrm>
          <a:prstGeom prst="rect">
            <a:avLst/>
          </a:prstGeom>
        </p:spPr>
      </p:pic>
    </p:spTree>
    <p:extLst>
      <p:ext uri="{BB962C8B-B14F-4D97-AF65-F5344CB8AC3E}">
        <p14:creationId xmlns:p14="http://schemas.microsoft.com/office/powerpoint/2010/main" val="320300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56B6-AD43-D01D-7067-2A82C42F3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7D3574-AF6A-CBDD-AA13-21C838166E1D}"/>
              </a:ext>
            </a:extLst>
          </p:cNvPr>
          <p:cNvSpPr>
            <a:spLocks noGrp="1"/>
          </p:cNvSpPr>
          <p:nvPr>
            <p:ph type="title"/>
          </p:nvPr>
        </p:nvSpPr>
        <p:spPr/>
        <p:txBody>
          <a:bodyPr/>
          <a:lstStyle/>
          <a:p>
            <a:r>
              <a:rPr lang="en-US" dirty="0"/>
              <a:t>K-Means Clustering - Algorithm</a:t>
            </a:r>
            <a:endParaRPr lang="en-IN" dirty="0"/>
          </a:p>
        </p:txBody>
      </p:sp>
      <p:sp>
        <p:nvSpPr>
          <p:cNvPr id="3" name="Content Placeholder 2">
            <a:extLst>
              <a:ext uri="{FF2B5EF4-FFF2-40B4-BE49-F238E27FC236}">
                <a16:creationId xmlns:a16="http://schemas.microsoft.com/office/drawing/2014/main" id="{C5916488-DE88-67E9-D59B-D77E80C6B774}"/>
              </a:ext>
            </a:extLst>
          </p:cNvPr>
          <p:cNvSpPr>
            <a:spLocks noGrp="1"/>
          </p:cNvSpPr>
          <p:nvPr>
            <p:ph idx="1"/>
          </p:nvPr>
        </p:nvSpPr>
        <p:spPr/>
        <p:txBody>
          <a:bodyPr/>
          <a:lstStyle/>
          <a:p>
            <a:pPr marL="0" indent="0">
              <a:buNone/>
            </a:pPr>
            <a:r>
              <a:rPr lang="en-US" dirty="0"/>
              <a:t>•</a:t>
            </a:r>
            <a:endParaRPr lang="en-IN" dirty="0"/>
          </a:p>
        </p:txBody>
      </p:sp>
      <p:pic>
        <p:nvPicPr>
          <p:cNvPr id="5" name="Picture 4">
            <a:extLst>
              <a:ext uri="{FF2B5EF4-FFF2-40B4-BE49-F238E27FC236}">
                <a16:creationId xmlns:a16="http://schemas.microsoft.com/office/drawing/2014/main" id="{E3354C54-9437-EAA9-081C-5CABFDE28B95}"/>
              </a:ext>
            </a:extLst>
          </p:cNvPr>
          <p:cNvPicPr>
            <a:picLocks noChangeAspect="1"/>
          </p:cNvPicPr>
          <p:nvPr/>
        </p:nvPicPr>
        <p:blipFill>
          <a:blip r:embed="rId2"/>
          <a:stretch>
            <a:fillRect/>
          </a:stretch>
        </p:blipFill>
        <p:spPr>
          <a:xfrm>
            <a:off x="969077" y="1895261"/>
            <a:ext cx="8028619" cy="1533739"/>
          </a:xfrm>
          <a:prstGeom prst="rect">
            <a:avLst/>
          </a:prstGeom>
        </p:spPr>
      </p:pic>
    </p:spTree>
    <p:extLst>
      <p:ext uri="{BB962C8B-B14F-4D97-AF65-F5344CB8AC3E}">
        <p14:creationId xmlns:p14="http://schemas.microsoft.com/office/powerpoint/2010/main" val="3690517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136-2419-EA1A-5C6E-D09A349D6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937C5-5807-3658-6E82-F1269487884E}"/>
              </a:ext>
            </a:extLst>
          </p:cNvPr>
          <p:cNvSpPr>
            <a:spLocks noGrp="1"/>
          </p:cNvSpPr>
          <p:nvPr>
            <p:ph type="title"/>
          </p:nvPr>
        </p:nvSpPr>
        <p:spPr/>
        <p:txBody>
          <a:bodyPr/>
          <a:lstStyle/>
          <a:p>
            <a:r>
              <a:rPr lang="en-US" dirty="0"/>
              <a:t>K-Means Clustering – Implementation in python </a:t>
            </a:r>
            <a:r>
              <a:rPr lang="en-US" dirty="0" err="1"/>
              <a:t>numpy</a:t>
            </a:r>
            <a:endParaRPr lang="en-IN" dirty="0"/>
          </a:p>
        </p:txBody>
      </p:sp>
      <p:sp>
        <p:nvSpPr>
          <p:cNvPr id="3" name="Content Placeholder 2">
            <a:extLst>
              <a:ext uri="{FF2B5EF4-FFF2-40B4-BE49-F238E27FC236}">
                <a16:creationId xmlns:a16="http://schemas.microsoft.com/office/drawing/2014/main" id="{DB7EFF30-7D3F-5F9B-8607-571A693D9386}"/>
              </a:ext>
            </a:extLst>
          </p:cNvPr>
          <p:cNvSpPr>
            <a:spLocks noGrp="1"/>
          </p:cNvSpPr>
          <p:nvPr>
            <p:ph idx="1"/>
          </p:nvPr>
        </p:nvSpPr>
        <p:spPr/>
        <p:txBody>
          <a:bodyPr/>
          <a:lstStyle/>
          <a:p>
            <a:pPr marL="0" indent="0">
              <a:buNone/>
            </a:pPr>
            <a:r>
              <a:rPr lang="en-US" dirty="0"/>
              <a:t>•</a:t>
            </a:r>
            <a:endParaRPr lang="en-IN" dirty="0"/>
          </a:p>
        </p:txBody>
      </p:sp>
      <p:pic>
        <p:nvPicPr>
          <p:cNvPr id="6" name="Picture 5">
            <a:extLst>
              <a:ext uri="{FF2B5EF4-FFF2-40B4-BE49-F238E27FC236}">
                <a16:creationId xmlns:a16="http://schemas.microsoft.com/office/drawing/2014/main" id="{93BC89E8-B711-9322-0BCD-025857CDDD8D}"/>
              </a:ext>
            </a:extLst>
          </p:cNvPr>
          <p:cNvPicPr>
            <a:picLocks noChangeAspect="1"/>
          </p:cNvPicPr>
          <p:nvPr/>
        </p:nvPicPr>
        <p:blipFill>
          <a:blip r:embed="rId2"/>
          <a:stretch>
            <a:fillRect/>
          </a:stretch>
        </p:blipFill>
        <p:spPr>
          <a:xfrm>
            <a:off x="1024128" y="1825624"/>
            <a:ext cx="9948672" cy="3953383"/>
          </a:xfrm>
          <a:prstGeom prst="rect">
            <a:avLst/>
          </a:prstGeom>
        </p:spPr>
      </p:pic>
    </p:spTree>
    <p:extLst>
      <p:ext uri="{BB962C8B-B14F-4D97-AF65-F5344CB8AC3E}">
        <p14:creationId xmlns:p14="http://schemas.microsoft.com/office/powerpoint/2010/main" val="310317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AC6B-B75F-754E-1F94-DB4D32434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9BB6C-0DBA-E654-80DE-335D9AB917EC}"/>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8E24580D-242C-C961-EAFF-058BD899401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4BA576B-BBA9-F5BA-EC49-464CA0D03C64}"/>
              </a:ext>
            </a:extLst>
          </p:cNvPr>
          <p:cNvPicPr>
            <a:picLocks noChangeAspect="1"/>
          </p:cNvPicPr>
          <p:nvPr/>
        </p:nvPicPr>
        <p:blipFill>
          <a:blip r:embed="rId2"/>
          <a:stretch>
            <a:fillRect/>
          </a:stretch>
        </p:blipFill>
        <p:spPr>
          <a:xfrm>
            <a:off x="1185177" y="809259"/>
            <a:ext cx="9821646" cy="5239481"/>
          </a:xfrm>
          <a:prstGeom prst="rect">
            <a:avLst/>
          </a:prstGeom>
        </p:spPr>
      </p:pic>
    </p:spTree>
    <p:extLst>
      <p:ext uri="{BB962C8B-B14F-4D97-AF65-F5344CB8AC3E}">
        <p14:creationId xmlns:p14="http://schemas.microsoft.com/office/powerpoint/2010/main" val="46968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C7C9F-9D72-7064-2803-959A339B2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88D31-C76B-EF42-73DB-F8FB7A162D28}"/>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7B753B28-1F75-71C4-3EA3-B50723D726C3}"/>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8242219B-D4D6-F3FC-BA13-022DE4B17BA6}"/>
              </a:ext>
            </a:extLst>
          </p:cNvPr>
          <p:cNvPicPr>
            <a:picLocks noChangeAspect="1"/>
          </p:cNvPicPr>
          <p:nvPr/>
        </p:nvPicPr>
        <p:blipFill>
          <a:blip r:embed="rId2"/>
          <a:stretch>
            <a:fillRect/>
          </a:stretch>
        </p:blipFill>
        <p:spPr>
          <a:xfrm>
            <a:off x="993059" y="1690688"/>
            <a:ext cx="9889922" cy="4690447"/>
          </a:xfrm>
          <a:prstGeom prst="rect">
            <a:avLst/>
          </a:prstGeom>
        </p:spPr>
      </p:pic>
    </p:spTree>
    <p:extLst>
      <p:ext uri="{BB962C8B-B14F-4D97-AF65-F5344CB8AC3E}">
        <p14:creationId xmlns:p14="http://schemas.microsoft.com/office/powerpoint/2010/main" val="420648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E398D-357A-22C0-297A-D7B7C02B6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68E96-53E6-967A-96A8-868BF99D21C7}"/>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AF797440-C7A5-0EC1-57E3-2F2DA6F0A4E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DAECE0-45FD-819C-A346-9273AA6A6FF4}"/>
              </a:ext>
            </a:extLst>
          </p:cNvPr>
          <p:cNvPicPr>
            <a:picLocks noChangeAspect="1"/>
          </p:cNvPicPr>
          <p:nvPr/>
        </p:nvPicPr>
        <p:blipFill>
          <a:blip r:embed="rId2"/>
          <a:stretch>
            <a:fillRect/>
          </a:stretch>
        </p:blipFill>
        <p:spPr>
          <a:xfrm>
            <a:off x="604071" y="1787902"/>
            <a:ext cx="10983858" cy="4351338"/>
          </a:xfrm>
          <a:prstGeom prst="rect">
            <a:avLst/>
          </a:prstGeom>
        </p:spPr>
      </p:pic>
    </p:spTree>
    <p:extLst>
      <p:ext uri="{BB962C8B-B14F-4D97-AF65-F5344CB8AC3E}">
        <p14:creationId xmlns:p14="http://schemas.microsoft.com/office/powerpoint/2010/main" val="1670320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9908-3785-C93D-AC84-D95F2ED3B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30505-DB8B-DDFF-D69F-399FC33630E0}"/>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15AC93F9-AB54-5C99-CE94-4861C0061778}"/>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0B95C62B-0EC5-C461-5CE7-8DEC36EFE738}"/>
              </a:ext>
            </a:extLst>
          </p:cNvPr>
          <p:cNvPicPr>
            <a:picLocks noChangeAspect="1"/>
          </p:cNvPicPr>
          <p:nvPr/>
        </p:nvPicPr>
        <p:blipFill>
          <a:blip r:embed="rId2"/>
          <a:stretch>
            <a:fillRect/>
          </a:stretch>
        </p:blipFill>
        <p:spPr>
          <a:xfrm>
            <a:off x="2261418" y="1825625"/>
            <a:ext cx="6892413" cy="4351338"/>
          </a:xfrm>
          <a:prstGeom prst="rect">
            <a:avLst/>
          </a:prstGeom>
        </p:spPr>
      </p:pic>
    </p:spTree>
    <p:extLst>
      <p:ext uri="{BB962C8B-B14F-4D97-AF65-F5344CB8AC3E}">
        <p14:creationId xmlns:p14="http://schemas.microsoft.com/office/powerpoint/2010/main" val="1334083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3F52F-D6D2-F871-F00F-D75871E44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2A41F-DD86-FED4-3438-0F8DBEBA334E}"/>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C137A2AA-C64B-A0A9-9B2E-B5FC88C524E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CC065BB-B5C9-B4A9-2738-15D2F76401AE}"/>
              </a:ext>
            </a:extLst>
          </p:cNvPr>
          <p:cNvPicPr>
            <a:picLocks noChangeAspect="1"/>
          </p:cNvPicPr>
          <p:nvPr/>
        </p:nvPicPr>
        <p:blipFill>
          <a:blip r:embed="rId2"/>
          <a:stretch>
            <a:fillRect/>
          </a:stretch>
        </p:blipFill>
        <p:spPr>
          <a:xfrm>
            <a:off x="713624" y="1825625"/>
            <a:ext cx="10764752" cy="4351338"/>
          </a:xfrm>
          <a:prstGeom prst="rect">
            <a:avLst/>
          </a:prstGeom>
        </p:spPr>
      </p:pic>
    </p:spTree>
    <p:extLst>
      <p:ext uri="{BB962C8B-B14F-4D97-AF65-F5344CB8AC3E}">
        <p14:creationId xmlns:p14="http://schemas.microsoft.com/office/powerpoint/2010/main" val="150457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B6E5B-CDA2-FDD0-5634-F6A7AF93B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1BBDE-5A9C-3B8E-5B3E-088E8CCB41D6}"/>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4C2EFEC2-03D7-78E2-1D42-3B124D6FD4B8}"/>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FB3A9043-17C9-A63F-47E6-C6B0648CB112}"/>
              </a:ext>
            </a:extLst>
          </p:cNvPr>
          <p:cNvPicPr>
            <a:picLocks noChangeAspect="1"/>
          </p:cNvPicPr>
          <p:nvPr/>
        </p:nvPicPr>
        <p:blipFill>
          <a:blip r:embed="rId2"/>
          <a:stretch>
            <a:fillRect/>
          </a:stretch>
        </p:blipFill>
        <p:spPr>
          <a:xfrm>
            <a:off x="1054510" y="1757843"/>
            <a:ext cx="9288878" cy="4486901"/>
          </a:xfrm>
          <a:prstGeom prst="rect">
            <a:avLst/>
          </a:prstGeom>
        </p:spPr>
      </p:pic>
    </p:spTree>
    <p:extLst>
      <p:ext uri="{BB962C8B-B14F-4D97-AF65-F5344CB8AC3E}">
        <p14:creationId xmlns:p14="http://schemas.microsoft.com/office/powerpoint/2010/main" val="3592345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4804-CD26-F46C-AE37-D7BAE4730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A1B28-7135-F582-D3A1-08DC113ADBC5}"/>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1E5A3379-DA27-80E2-4723-153C833C0916}"/>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72979A9-F8F7-3911-11EF-4326692C2361}"/>
              </a:ext>
            </a:extLst>
          </p:cNvPr>
          <p:cNvPicPr>
            <a:picLocks noChangeAspect="1"/>
          </p:cNvPicPr>
          <p:nvPr/>
        </p:nvPicPr>
        <p:blipFill>
          <a:blip r:embed="rId2"/>
          <a:stretch>
            <a:fillRect/>
          </a:stretch>
        </p:blipFill>
        <p:spPr>
          <a:xfrm>
            <a:off x="732676" y="1825625"/>
            <a:ext cx="10726647" cy="4504142"/>
          </a:xfrm>
          <a:prstGeom prst="rect">
            <a:avLst/>
          </a:prstGeom>
        </p:spPr>
      </p:pic>
    </p:spTree>
    <p:extLst>
      <p:ext uri="{BB962C8B-B14F-4D97-AF65-F5344CB8AC3E}">
        <p14:creationId xmlns:p14="http://schemas.microsoft.com/office/powerpoint/2010/main" val="1965812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B617-176F-F479-14BE-0D93AE138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6BC90-F572-F680-BB35-F2C83AAFB66B}"/>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E328FD0E-37D7-56B0-89FF-BCF77F2F1424}"/>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69DB34E3-BAED-E87A-4893-F21312AD7E8C}"/>
              </a:ext>
            </a:extLst>
          </p:cNvPr>
          <p:cNvPicPr>
            <a:picLocks noChangeAspect="1"/>
          </p:cNvPicPr>
          <p:nvPr/>
        </p:nvPicPr>
        <p:blipFill>
          <a:blip r:embed="rId2"/>
          <a:stretch>
            <a:fillRect/>
          </a:stretch>
        </p:blipFill>
        <p:spPr>
          <a:xfrm>
            <a:off x="727588" y="1613851"/>
            <a:ext cx="10626212" cy="4563112"/>
          </a:xfrm>
          <a:prstGeom prst="rect">
            <a:avLst/>
          </a:prstGeom>
        </p:spPr>
      </p:pic>
    </p:spTree>
    <p:extLst>
      <p:ext uri="{BB962C8B-B14F-4D97-AF65-F5344CB8AC3E}">
        <p14:creationId xmlns:p14="http://schemas.microsoft.com/office/powerpoint/2010/main" val="1630907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11268-B28A-F6C2-E49B-92810A12E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39474-8228-6D70-C0D6-FEB33C175A66}"/>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400AC704-D42A-FB6A-F2D8-FCF76159443A}"/>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939BCF5-DF17-9580-7E69-26FF34BC5343}"/>
              </a:ext>
            </a:extLst>
          </p:cNvPr>
          <p:cNvPicPr>
            <a:picLocks noChangeAspect="1"/>
          </p:cNvPicPr>
          <p:nvPr/>
        </p:nvPicPr>
        <p:blipFill>
          <a:blip r:embed="rId2"/>
          <a:stretch>
            <a:fillRect/>
          </a:stretch>
        </p:blipFill>
        <p:spPr>
          <a:xfrm>
            <a:off x="766018" y="1825625"/>
            <a:ext cx="10659963" cy="4566063"/>
          </a:xfrm>
          <a:prstGeom prst="rect">
            <a:avLst/>
          </a:prstGeom>
        </p:spPr>
      </p:pic>
    </p:spTree>
    <p:extLst>
      <p:ext uri="{BB962C8B-B14F-4D97-AF65-F5344CB8AC3E}">
        <p14:creationId xmlns:p14="http://schemas.microsoft.com/office/powerpoint/2010/main" val="616842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2ADD-BFFC-61D6-4A09-58DFEC72F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88324-852F-49BB-B96A-E9BD73484AFF}"/>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7A759973-45CB-8B20-1C3C-9441F75ADD2B}"/>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99B81FF5-25EC-AEA1-CE60-94015EAF3A9D}"/>
              </a:ext>
            </a:extLst>
          </p:cNvPr>
          <p:cNvPicPr>
            <a:picLocks noChangeAspect="1"/>
          </p:cNvPicPr>
          <p:nvPr/>
        </p:nvPicPr>
        <p:blipFill>
          <a:blip r:embed="rId2"/>
          <a:stretch>
            <a:fillRect/>
          </a:stretch>
        </p:blipFill>
        <p:spPr>
          <a:xfrm>
            <a:off x="689808" y="1690688"/>
            <a:ext cx="10812384" cy="4362816"/>
          </a:xfrm>
          <a:prstGeom prst="rect">
            <a:avLst/>
          </a:prstGeom>
        </p:spPr>
      </p:pic>
    </p:spTree>
    <p:extLst>
      <p:ext uri="{BB962C8B-B14F-4D97-AF65-F5344CB8AC3E}">
        <p14:creationId xmlns:p14="http://schemas.microsoft.com/office/powerpoint/2010/main" val="2715629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629E6-ECEF-F8FA-4F9B-5119C7FBC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69D4A-D083-ECE2-9BA2-0EBBCA8734F5}"/>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D7EB8A14-D5CF-1506-61EF-D347866F9D5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EFF2183-2E7D-5693-6E79-7500AE7DE14F}"/>
              </a:ext>
            </a:extLst>
          </p:cNvPr>
          <p:cNvPicPr>
            <a:picLocks noChangeAspect="1"/>
          </p:cNvPicPr>
          <p:nvPr/>
        </p:nvPicPr>
        <p:blipFill>
          <a:blip r:embed="rId2"/>
          <a:stretch>
            <a:fillRect/>
          </a:stretch>
        </p:blipFill>
        <p:spPr>
          <a:xfrm>
            <a:off x="656466" y="1907458"/>
            <a:ext cx="10879068" cy="4155571"/>
          </a:xfrm>
          <a:prstGeom prst="rect">
            <a:avLst/>
          </a:prstGeom>
        </p:spPr>
      </p:pic>
    </p:spTree>
    <p:extLst>
      <p:ext uri="{BB962C8B-B14F-4D97-AF65-F5344CB8AC3E}">
        <p14:creationId xmlns:p14="http://schemas.microsoft.com/office/powerpoint/2010/main" val="4188788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B7EB-E08B-C803-AA2F-D457B76B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EB3BC-A3F4-4594-DA43-F9DE127A8BE4}"/>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00A06B7D-DE94-36CA-578B-5CA7611F6332}"/>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66167BFF-540A-544B-6C72-0BF86C9FB6BF}"/>
              </a:ext>
            </a:extLst>
          </p:cNvPr>
          <p:cNvPicPr>
            <a:picLocks noChangeAspect="1"/>
          </p:cNvPicPr>
          <p:nvPr/>
        </p:nvPicPr>
        <p:blipFill>
          <a:blip r:embed="rId2"/>
          <a:stretch>
            <a:fillRect/>
          </a:stretch>
        </p:blipFill>
        <p:spPr>
          <a:xfrm>
            <a:off x="646939" y="1406012"/>
            <a:ext cx="10898121" cy="4647491"/>
          </a:xfrm>
          <a:prstGeom prst="rect">
            <a:avLst/>
          </a:prstGeom>
        </p:spPr>
      </p:pic>
    </p:spTree>
    <p:extLst>
      <p:ext uri="{BB962C8B-B14F-4D97-AF65-F5344CB8AC3E}">
        <p14:creationId xmlns:p14="http://schemas.microsoft.com/office/powerpoint/2010/main" val="729401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FA8AC-05EB-AD05-4257-387F216AD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ED23A-AE38-9775-0229-48B7012B9D83}"/>
              </a:ext>
            </a:extLst>
          </p:cNvPr>
          <p:cNvSpPr>
            <a:spLocks noGrp="1"/>
          </p:cNvSpPr>
          <p:nvPr>
            <p:ph type="title"/>
          </p:nvPr>
        </p:nvSpPr>
        <p:spPr/>
        <p:txBody>
          <a:bodyPr/>
          <a:lstStyle/>
          <a:p>
            <a:r>
              <a:rPr lang="en-US" dirty="0"/>
              <a:t>K-Means Clustering-Solved Problems</a:t>
            </a:r>
            <a:endParaRPr lang="en-IN" dirty="0"/>
          </a:p>
        </p:txBody>
      </p:sp>
      <p:sp>
        <p:nvSpPr>
          <p:cNvPr id="3" name="Content Placeholder 2">
            <a:extLst>
              <a:ext uri="{FF2B5EF4-FFF2-40B4-BE49-F238E27FC236}">
                <a16:creationId xmlns:a16="http://schemas.microsoft.com/office/drawing/2014/main" id="{CF6762A6-2608-0812-5665-498F0F740790}"/>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2BB0A602-BEF9-DDBC-FBB3-F99ED38D52D6}"/>
              </a:ext>
            </a:extLst>
          </p:cNvPr>
          <p:cNvPicPr>
            <a:picLocks noChangeAspect="1"/>
          </p:cNvPicPr>
          <p:nvPr/>
        </p:nvPicPr>
        <p:blipFill>
          <a:blip r:embed="rId2"/>
          <a:stretch>
            <a:fillRect/>
          </a:stretch>
        </p:blipFill>
        <p:spPr>
          <a:xfrm>
            <a:off x="838200" y="1690688"/>
            <a:ext cx="9878804" cy="4591691"/>
          </a:xfrm>
          <a:prstGeom prst="rect">
            <a:avLst/>
          </a:prstGeom>
        </p:spPr>
      </p:pic>
    </p:spTree>
    <p:extLst>
      <p:ext uri="{BB962C8B-B14F-4D97-AF65-F5344CB8AC3E}">
        <p14:creationId xmlns:p14="http://schemas.microsoft.com/office/powerpoint/2010/main" val="3181463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98B7-1037-F2B6-9D20-D5F72B3C0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221C3-BEA7-9F13-E74D-293CC7BD439C}"/>
              </a:ext>
            </a:extLst>
          </p:cNvPr>
          <p:cNvSpPr>
            <a:spLocks noGrp="1"/>
          </p:cNvSpPr>
          <p:nvPr>
            <p:ph type="title"/>
          </p:nvPr>
        </p:nvSpPr>
        <p:spPr/>
        <p:txBody>
          <a:bodyPr/>
          <a:lstStyle/>
          <a:p>
            <a:r>
              <a:rPr lang="en-US" dirty="0"/>
              <a:t>Dealing with noise</a:t>
            </a:r>
            <a:endParaRPr lang="en-IN" dirty="0"/>
          </a:p>
        </p:txBody>
      </p:sp>
      <p:sp>
        <p:nvSpPr>
          <p:cNvPr id="3" name="Content Placeholder 2">
            <a:extLst>
              <a:ext uri="{FF2B5EF4-FFF2-40B4-BE49-F238E27FC236}">
                <a16:creationId xmlns:a16="http://schemas.microsoft.com/office/drawing/2014/main" id="{7CC0A5B3-E606-1CD3-704A-A079BE8195F9}"/>
              </a:ext>
            </a:extLst>
          </p:cNvPr>
          <p:cNvSpPr>
            <a:spLocks noGrp="1"/>
          </p:cNvSpPr>
          <p:nvPr>
            <p:ph idx="1"/>
          </p:nvPr>
        </p:nvSpPr>
        <p:spPr/>
        <p:txBody>
          <a:bodyPr>
            <a:normAutofit fontScale="92500" lnSpcReduction="20000"/>
          </a:bodyPr>
          <a:lstStyle/>
          <a:p>
            <a:r>
              <a:rPr lang="en-US" dirty="0"/>
              <a:t>There are lots of reasons for performing clustering, but one of the more common ones is to deal with noisy data readings. These might be slightly corrupted, or occasionally just plain wrong. If we can choose the clusters correctly, then we have effectively removed the noise, because we replace each noisy datapoint by the cluster </a:t>
            </a:r>
            <a:r>
              <a:rPr lang="en-US" dirty="0" err="1"/>
              <a:t>centre</a:t>
            </a:r>
            <a:r>
              <a:rPr lang="en-US" dirty="0"/>
              <a:t> (we will use this way of representing datapoints for other purposes in Section 14.2). Unfortunately, the mean average, which is central to the k-means algorithm, is very susceptible to outliers, i.e., very noisy measurements. One way to avoid the problem is to replace the mean average with the median, which is what is known as a robust statistic, meaning that it is not affected by outliers (the mean of (1, 2, 1, 2, 100) is 21.2, while the median is 2). The only change that is needed to the algorithm is to replace the computation of the mean with the computation of the median. This is computationally more expensive, as we’ve discussed previously, but it does remove noise effectively. </a:t>
            </a:r>
            <a:endParaRPr lang="en-IN" dirty="0"/>
          </a:p>
        </p:txBody>
      </p:sp>
    </p:spTree>
    <p:extLst>
      <p:ext uri="{BB962C8B-B14F-4D97-AF65-F5344CB8AC3E}">
        <p14:creationId xmlns:p14="http://schemas.microsoft.com/office/powerpoint/2010/main" val="2121784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49D2-4801-DD2A-FD37-C6ED526F7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77A13-A481-596B-5417-5E1C4B111077}"/>
              </a:ext>
            </a:extLst>
          </p:cNvPr>
          <p:cNvSpPr>
            <a:spLocks noGrp="1"/>
          </p:cNvSpPr>
          <p:nvPr>
            <p:ph type="title"/>
          </p:nvPr>
        </p:nvSpPr>
        <p:spPr/>
        <p:txBody>
          <a:bodyPr/>
          <a:lstStyle/>
          <a:p>
            <a:r>
              <a:rPr lang="en-US" dirty="0"/>
              <a:t>Dealing with noise</a:t>
            </a:r>
            <a:endParaRPr lang="en-IN" dirty="0"/>
          </a:p>
        </p:txBody>
      </p:sp>
      <p:sp>
        <p:nvSpPr>
          <p:cNvPr id="3" name="Content Placeholder 2">
            <a:extLst>
              <a:ext uri="{FF2B5EF4-FFF2-40B4-BE49-F238E27FC236}">
                <a16:creationId xmlns:a16="http://schemas.microsoft.com/office/drawing/2014/main" id="{094D4573-9960-C179-0F5D-E37B3D7ABB6E}"/>
              </a:ext>
            </a:extLst>
          </p:cNvPr>
          <p:cNvSpPr>
            <a:spLocks noGrp="1"/>
          </p:cNvSpPr>
          <p:nvPr>
            <p:ph idx="1"/>
          </p:nvPr>
        </p:nvSpPr>
        <p:spPr/>
        <p:txBody>
          <a:bodyPr>
            <a:normAutofit fontScale="92500" lnSpcReduction="20000"/>
          </a:bodyPr>
          <a:lstStyle/>
          <a:p>
            <a:r>
              <a:rPr lang="en-US" dirty="0"/>
              <a:t>There are lots of reasons for performing clustering, but one of the more common ones is to deal with noisy data readings. These might be slightly corrupted, or occasionally just plain wrong. If we can choose the clusters correctly, then we have effectively removed the noise, because we replace each noisy datapoint by the cluster </a:t>
            </a:r>
            <a:r>
              <a:rPr lang="en-US" dirty="0" err="1"/>
              <a:t>centre</a:t>
            </a:r>
            <a:r>
              <a:rPr lang="en-US" dirty="0"/>
              <a:t> (we will use this way of representing datapoints for other purposes in Section 14.2). Unfortunately, the mean average, which is central to the k-means algorithm, is very susceptible to outliers, i.e., very noisy measurements. One way to avoid the problem is to replace the mean average with the median, which is what is known as a robust statistic, meaning that it is not affected by outliers (the mean of (1, 2, 1, 2, 100) is 21.2, while the median is 2). The only change that is needed to the algorithm is to replace the computation of the mean with the computation of the median. This is computationally more expensive, as we’ve discussed previously, but it does remove noise effectively. </a:t>
            </a:r>
            <a:endParaRPr lang="en-IN" dirty="0"/>
          </a:p>
        </p:txBody>
      </p:sp>
    </p:spTree>
    <p:extLst>
      <p:ext uri="{BB962C8B-B14F-4D97-AF65-F5344CB8AC3E}">
        <p14:creationId xmlns:p14="http://schemas.microsoft.com/office/powerpoint/2010/main" val="1957700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4E026-74A6-3039-BEA9-19C1ED4BE474}"/>
              </a:ext>
            </a:extLst>
          </p:cNvPr>
          <p:cNvSpPr>
            <a:spLocks noGrp="1"/>
          </p:cNvSpPr>
          <p:nvPr>
            <p:ph type="title"/>
          </p:nvPr>
        </p:nvSpPr>
        <p:spPr/>
        <p:txBody>
          <a:bodyPr/>
          <a:lstStyle/>
          <a:p>
            <a:r>
              <a:rPr lang="en-US" dirty="0"/>
              <a:t>Reference</a:t>
            </a:r>
            <a:endParaRPr lang="en-IN" dirty="0"/>
          </a:p>
        </p:txBody>
      </p:sp>
      <p:sp>
        <p:nvSpPr>
          <p:cNvPr id="3" name="Content Placeholder 2">
            <a:extLst>
              <a:ext uri="{FF2B5EF4-FFF2-40B4-BE49-F238E27FC236}">
                <a16:creationId xmlns:a16="http://schemas.microsoft.com/office/drawing/2014/main" id="{56C8CC43-F9C8-3FF5-7C91-B041D39E63F9}"/>
              </a:ext>
            </a:extLst>
          </p:cNvPr>
          <p:cNvSpPr>
            <a:spLocks noGrp="1"/>
          </p:cNvSpPr>
          <p:nvPr>
            <p:ph idx="1"/>
          </p:nvPr>
        </p:nvSpPr>
        <p:spPr/>
        <p:txBody>
          <a:bodyPr/>
          <a:lstStyle/>
          <a:p>
            <a:r>
              <a:rPr lang="en-IN" dirty="0"/>
              <a:t>Introduction</a:t>
            </a:r>
          </a:p>
          <a:p>
            <a:r>
              <a:rPr lang="en-IN" dirty="0">
                <a:hlinkClick r:id="rId2"/>
              </a:rPr>
              <a:t>https://www.youtube.com/watch?v=3tLdD-4-wnI</a:t>
            </a:r>
            <a:endParaRPr lang="en-IN" dirty="0"/>
          </a:p>
          <a:p>
            <a:r>
              <a:rPr lang="en-IN" dirty="0"/>
              <a:t>Solved Problem</a:t>
            </a:r>
          </a:p>
          <a:p>
            <a:r>
              <a:rPr lang="en-IN" dirty="0">
                <a:hlinkClick r:id="rId3"/>
              </a:rPr>
              <a:t>https://www.youtube.com/watch?v=FllcPjvztTI</a:t>
            </a:r>
            <a:endParaRPr lang="en-IN" dirty="0"/>
          </a:p>
          <a:p>
            <a:r>
              <a:rPr lang="en-IN" dirty="0"/>
              <a:t>Programs</a:t>
            </a:r>
          </a:p>
          <a:p>
            <a:r>
              <a:rPr lang="en-IN"/>
              <a:t>https://www.geeksforgeeks.org/machine-learning/k-means-clustering-introduction/</a:t>
            </a:r>
            <a:endParaRPr lang="en-IN" dirty="0"/>
          </a:p>
        </p:txBody>
      </p:sp>
    </p:spTree>
    <p:extLst>
      <p:ext uri="{BB962C8B-B14F-4D97-AF65-F5344CB8AC3E}">
        <p14:creationId xmlns:p14="http://schemas.microsoft.com/office/powerpoint/2010/main" val="3955318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TotalTime>
  <Words>781</Words>
  <Application>Microsoft Office PowerPoint</Application>
  <PresentationFormat>Widescreen</PresentationFormat>
  <Paragraphs>69</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Module 3 Ensemble Learning Kmeans Clustering- Unsupervised Machine Learning</vt:lpstr>
      <vt:lpstr>Unsupervised Machine Learning</vt:lpstr>
      <vt:lpstr>Unsupervised Machine Learning</vt:lpstr>
      <vt:lpstr>Unsupervised Machine Learning</vt:lpstr>
      <vt:lpstr>Unsupervised Machine Learning</vt:lpstr>
      <vt:lpstr>K-Means Clustering</vt:lpstr>
      <vt:lpstr>K-Means Clustering - Algorithm</vt:lpstr>
      <vt:lpstr>K-Means Clustering - Algorithm</vt:lpstr>
      <vt:lpstr>K-Means Clustering – Implementation in python numpy</vt:lpstr>
      <vt:lpstr>K-Means Clustering</vt:lpstr>
      <vt:lpstr>K-Means Clustering</vt:lpstr>
      <vt:lpstr>K-Means Clustering</vt:lpstr>
      <vt:lpstr>K-Means Clustering-Solved Problems</vt:lpstr>
      <vt:lpstr>K-Means Clustering-Solved Problems</vt:lpstr>
      <vt:lpstr>K-Means Clustering-Solved Problems</vt:lpstr>
      <vt:lpstr>K-Means Clustering-Solved Problems</vt:lpstr>
      <vt:lpstr>K-Means Clustering-Solved Problems</vt:lpstr>
      <vt:lpstr>K-Means Clustering-Solved Problems</vt:lpstr>
      <vt:lpstr>K-Means Clustering-Solved Problems</vt:lpstr>
      <vt:lpstr>K-Means Clustering-Solved Problems</vt:lpstr>
      <vt:lpstr>K-Means Clustering-Solved Problems</vt:lpstr>
      <vt:lpstr>K-Means Clustering-Solved Problems</vt:lpstr>
      <vt:lpstr>Dealing with noise</vt:lpstr>
      <vt:lpstr>Dealing with noise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prasad konandur</dc:creator>
  <cp:lastModifiedBy>raghu prasad konandur</cp:lastModifiedBy>
  <cp:revision>80</cp:revision>
  <dcterms:created xsi:type="dcterms:W3CDTF">2025-08-13T23:37:38Z</dcterms:created>
  <dcterms:modified xsi:type="dcterms:W3CDTF">2025-09-18T00:58:20Z</dcterms:modified>
</cp:coreProperties>
</file>