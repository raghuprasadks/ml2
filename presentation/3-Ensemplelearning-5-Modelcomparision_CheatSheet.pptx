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Precision, Recall, F1‑Score (Cheat‑Sheet)</a:t>
            </a:r>
          </a:p>
        </p:txBody>
      </p:sp>
      <p:sp>
        <p:nvSpPr>
          <p:cNvPr id="3" name="Subtitle 2"/>
          <p:cNvSpPr>
            <a:spLocks noGrp="1"/>
          </p:cNvSpPr>
          <p:nvPr>
            <p:ph type="subTitle" idx="1"/>
          </p:nvPr>
        </p:nvSpPr>
        <p:spPr/>
        <p:txBody>
          <a:bodyPr/>
          <a:lstStyle/>
          <a:p>
            <a:r>
              <a:t>Clear definitions • Tiny example • When to use which • Multiclass notes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Terms (Binary Classification)</a:t>
            </a:r>
          </a:p>
        </p:txBody>
      </p:sp>
      <p:sp>
        <p:nvSpPr>
          <p:cNvPr id="3" name="Content Placeholder 2"/>
          <p:cNvSpPr>
            <a:spLocks noGrp="1"/>
          </p:cNvSpPr>
          <p:nvPr>
            <p:ph idx="1"/>
          </p:nvPr>
        </p:nvSpPr>
        <p:spPr/>
        <p:txBody>
          <a:bodyPr/>
          <a:lstStyle/>
          <a:p>
            <a:r>
              <a:t>TP (True Positive): predicted positive and actually positive</a:t>
            </a:r>
          </a:p>
          <a:p>
            <a:r>
              <a:t>FP (False Positive): predicted positive but actually negative</a:t>
            </a:r>
          </a:p>
          <a:p>
            <a:r>
              <a:t>FN (False Negative): predicted negative but actually positive</a:t>
            </a:r>
          </a:p>
          <a:p>
            <a:r>
              <a:t>TN (True Negative): predicted negative and actually negative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Confusion Matrix</a:t>
            </a:r>
          </a:p>
        </p:txBody>
      </p:sp>
      <p:graphicFrame>
        <p:nvGraphicFramePr>
          <p:cNvPr id="3" name="Table 2"/>
          <p:cNvGraphicFramePr>
            <a:graphicFrameLocks noGrp="1"/>
          </p:cNvGraphicFramePr>
          <p:nvPr/>
        </p:nvGraphicFramePr>
        <p:xfrm>
          <a:off x="457200" y="1463040"/>
          <a:ext cx="7772400" cy="3657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219200">
                <a:tc>
                  <a:txBody>
                    <a:bodyPr/>
                    <a:lstStyle/>
                    <a:p>
                      <a:pPr algn="ctr">
                        <a:defRPr sz="1600"/>
                      </a:pPr>
                      <a:endParaRPr/>
                    </a:p>
                  </a:txBody>
                  <a:tcPr/>
                </a:tc>
                <a:tc>
                  <a:txBody>
                    <a:bodyPr/>
                    <a:lstStyle/>
                    <a:p>
                      <a:pPr algn="ctr">
                        <a:defRPr sz="1600"/>
                      </a:pPr>
                      <a:r>
                        <a:t>Predicted: Negative</a:t>
                      </a:r>
                    </a:p>
                  </a:txBody>
                  <a:tcPr/>
                </a:tc>
                <a:tc>
                  <a:txBody>
                    <a:bodyPr/>
                    <a:lstStyle/>
                    <a:p>
                      <a:pPr algn="ctr">
                        <a:defRPr sz="1600"/>
                      </a:pPr>
                      <a:r>
                        <a:t>Predicted: Positive</a:t>
                      </a:r>
                    </a:p>
                  </a:txBody>
                  <a:tcPr/>
                </a:tc>
                <a:extLst>
                  <a:ext uri="{0D108BD9-81ED-4DB2-BD59-A6C34878D82A}">
                    <a16:rowId xmlns:a16="http://schemas.microsoft.com/office/drawing/2014/main" val="10000"/>
                  </a:ext>
                </a:extLst>
              </a:tr>
              <a:tr h="1219200">
                <a:tc>
                  <a:txBody>
                    <a:bodyPr/>
                    <a:lstStyle/>
                    <a:p>
                      <a:pPr algn="ctr">
                        <a:defRPr sz="1600"/>
                      </a:pPr>
                      <a:r>
                        <a:t>Actual: Negative</a:t>
                      </a:r>
                    </a:p>
                  </a:txBody>
                  <a:tcPr/>
                </a:tc>
                <a:tc>
                  <a:txBody>
                    <a:bodyPr/>
                    <a:lstStyle/>
                    <a:p>
                      <a:pPr algn="ctr">
                        <a:defRPr sz="1600"/>
                      </a:pPr>
                      <a:r>
                        <a:t>TN</a:t>
                      </a:r>
                    </a:p>
                  </a:txBody>
                  <a:tcPr/>
                </a:tc>
                <a:tc>
                  <a:txBody>
                    <a:bodyPr/>
                    <a:lstStyle/>
                    <a:p>
                      <a:pPr algn="ctr">
                        <a:defRPr sz="1600"/>
                      </a:pPr>
                      <a:r>
                        <a:t>FP</a:t>
                      </a:r>
                    </a:p>
                  </a:txBody>
                  <a:tcPr/>
                </a:tc>
                <a:extLst>
                  <a:ext uri="{0D108BD9-81ED-4DB2-BD59-A6C34878D82A}">
                    <a16:rowId xmlns:a16="http://schemas.microsoft.com/office/drawing/2014/main" val="10001"/>
                  </a:ext>
                </a:extLst>
              </a:tr>
              <a:tr h="1219200">
                <a:tc>
                  <a:txBody>
                    <a:bodyPr/>
                    <a:lstStyle/>
                    <a:p>
                      <a:pPr algn="ctr">
                        <a:defRPr sz="1600"/>
                      </a:pPr>
                      <a:r>
                        <a:t>Actual: Positive</a:t>
                      </a:r>
                    </a:p>
                  </a:txBody>
                  <a:tcPr/>
                </a:tc>
                <a:tc>
                  <a:txBody>
                    <a:bodyPr/>
                    <a:lstStyle/>
                    <a:p>
                      <a:pPr algn="ctr">
                        <a:defRPr sz="1600"/>
                      </a:pPr>
                      <a:r>
                        <a:t>FN</a:t>
                      </a:r>
                    </a:p>
                  </a:txBody>
                  <a:tcPr/>
                </a:tc>
                <a:tc>
                  <a:txBody>
                    <a:bodyPr/>
                    <a:lstStyle/>
                    <a:p>
                      <a:pPr algn="ctr">
                        <a:defRPr sz="1600"/>
                      </a:pPr>
                      <a:r>
                        <a:t>TP</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Metrics &amp; Formulas</a:t>
            </a:r>
          </a:p>
        </p:txBody>
      </p:sp>
      <p:sp>
        <p:nvSpPr>
          <p:cNvPr id="3" name="Content Placeholder 2"/>
          <p:cNvSpPr>
            <a:spLocks noGrp="1"/>
          </p:cNvSpPr>
          <p:nvPr>
            <p:ph idx="1"/>
          </p:nvPr>
        </p:nvSpPr>
        <p:spPr/>
        <p:txBody>
          <a:bodyPr>
            <a:normAutofit fontScale="77500" lnSpcReduction="20000"/>
          </a:bodyPr>
          <a:lstStyle/>
          <a:p>
            <a:r>
              <a:t>Precision = TP / (TP + FP)  → Of predicted positives, how many are correct?</a:t>
            </a:r>
          </a:p>
          <a:p>
            <a:r>
              <a:t>Recall (Sensitivity, TPR) = TP / (TP + FN)  → Of actual positives, how many were found?</a:t>
            </a:r>
          </a:p>
          <a:p>
            <a:r>
              <a:t>Specificity (TNR) = TN / (TN + FP)  → Of actual negatives, how many were correctly rejected?</a:t>
            </a:r>
          </a:p>
          <a:p>
            <a:r>
              <a:t>Accuracy = (TP + TN) / (TP + FP + FN + TN)</a:t>
            </a:r>
          </a:p>
          <a:p>
            <a:r>
              <a:t>FPR = 1 − Specificity = FP / (FP + TN)</a:t>
            </a:r>
          </a:p>
          <a:p>
            <a:r>
              <a:t>FNR = 1 − Recall = FN / (FN + TP)</a:t>
            </a:r>
          </a:p>
          <a:p>
            <a:r>
              <a:t>Balanced Accuracy = (Recall + Specificity) / 2</a:t>
            </a:r>
          </a:p>
          <a:p>
            <a:r>
              <a:t>F1 = 2 × (Precision × Recall) / (Precision + Recall)  (harmonic mean)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Tiny Numeric Example (All Calculations)</a:t>
            </a:r>
          </a:p>
        </p:txBody>
      </p:sp>
      <p:sp>
        <p:nvSpPr>
          <p:cNvPr id="3" name="Content Placeholder 2"/>
          <p:cNvSpPr>
            <a:spLocks noGrp="1"/>
          </p:cNvSpPr>
          <p:nvPr>
            <p:ph idx="1"/>
          </p:nvPr>
        </p:nvSpPr>
        <p:spPr/>
        <p:txBody>
          <a:bodyPr>
            <a:normAutofit fontScale="92500" lnSpcReduction="10000"/>
          </a:bodyPr>
          <a:lstStyle/>
          <a:p>
            <a:r>
              <a:t>Assume: TP=40, FP=10, FN=20, TN=30 (total = 100)</a:t>
            </a:r>
          </a:p>
          <a:p>
            <a:r>
              <a:t>Precision = 40 / (40 + 10) = 0.80</a:t>
            </a:r>
          </a:p>
          <a:p>
            <a:r>
              <a:t>Recall = 40 / (40 + 20) ≈ 0.6667</a:t>
            </a:r>
          </a:p>
          <a:p>
            <a:r>
              <a:t>F1 ≈ 2 × (0.80 × 0.6667) / (0.80 + 0.6667) ≈ 0.7273</a:t>
            </a:r>
          </a:p>
          <a:p>
            <a:r>
              <a:t>Accuracy = (40 + 30) / 100 = 0.70</a:t>
            </a:r>
          </a:p>
          <a:p>
            <a:r>
              <a:t>Specificity = 30 / (30 + 10) = 0.75;  FPR = 0.25</a:t>
            </a:r>
          </a:p>
          <a:p>
            <a:r>
              <a:t>Balanced Accuracy = (0.6667 + 0.75) / 2 ≈ 0.7083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to Optimize What?</a:t>
            </a:r>
          </a:p>
        </p:txBody>
      </p:sp>
      <p:sp>
        <p:nvSpPr>
          <p:cNvPr id="3" name="Content Placeholder 2"/>
          <p:cNvSpPr>
            <a:spLocks noGrp="1"/>
          </p:cNvSpPr>
          <p:nvPr>
            <p:ph idx="1"/>
          </p:nvPr>
        </p:nvSpPr>
        <p:spPr/>
        <p:txBody>
          <a:bodyPr>
            <a:normAutofit fontScale="92500" lnSpcReduction="20000"/>
          </a:bodyPr>
          <a:lstStyle/>
          <a:p>
            <a:r>
              <a:t>Maximize Precision</a:t>
            </a:r>
          </a:p>
          <a:p>
            <a:pPr lvl="1"/>
            <a:r>
              <a:t>When false alarms are costly (e.g., fraud flags, spam in inbox)</a:t>
            </a:r>
          </a:p>
          <a:p>
            <a:r>
              <a:t>Maximize Recall</a:t>
            </a:r>
          </a:p>
          <a:p>
            <a:pPr lvl="1"/>
            <a:r>
              <a:t>When misses are costly (e.g., disease screening, safety alerts)</a:t>
            </a:r>
          </a:p>
          <a:p>
            <a:r>
              <a:t>Use F1‑score</a:t>
            </a:r>
          </a:p>
          <a:p>
            <a:pPr lvl="1"/>
            <a:r>
              <a:t>When you need a single number balancing precision &amp; recall with imbalance</a:t>
            </a:r>
          </a:p>
          <a:p>
            <a:r>
              <a:t>Beware Accuracy</a:t>
            </a:r>
          </a:p>
          <a:p>
            <a:pPr lvl="1"/>
            <a:r>
              <a:t>Can be misleading with imbalanced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Multiclass Metrics (Averaging)</a:t>
            </a:r>
          </a:p>
        </p:txBody>
      </p:sp>
      <p:sp>
        <p:nvSpPr>
          <p:cNvPr id="3" name="Content Placeholder 2"/>
          <p:cNvSpPr>
            <a:spLocks noGrp="1"/>
          </p:cNvSpPr>
          <p:nvPr>
            <p:ph idx="1"/>
          </p:nvPr>
        </p:nvSpPr>
        <p:spPr/>
        <p:txBody>
          <a:bodyPr/>
          <a:lstStyle/>
          <a:p>
            <a:r>
              <a:t>Macro average: compute per class, then average (treats all classes equally)</a:t>
            </a:r>
          </a:p>
          <a:p>
            <a:r>
              <a:t>Micro average: pool TP/FP/FN across classes, then compute once (weights by frequency)</a:t>
            </a:r>
          </a:p>
          <a:p>
            <a:r>
              <a:t>Weighted macro: macro but weighted by class support (helps on imbalanced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Tips &amp; Pitfalls</a:t>
            </a:r>
          </a:p>
        </p:txBody>
      </p:sp>
      <p:sp>
        <p:nvSpPr>
          <p:cNvPr id="3" name="Content Placeholder 2"/>
          <p:cNvSpPr>
            <a:spLocks noGrp="1"/>
          </p:cNvSpPr>
          <p:nvPr>
            <p:ph idx="1"/>
          </p:nvPr>
        </p:nvSpPr>
        <p:spPr/>
        <p:txBody>
          <a:bodyPr/>
          <a:lstStyle/>
          <a:p>
            <a:r>
              <a:t>Tune the decision threshold (not just 0.5) to trade precision vs. recall</a:t>
            </a:r>
          </a:p>
          <a:p>
            <a:r>
              <a:t>Use PR curves for imbalance and ROC curves for overall ranking quality</a:t>
            </a:r>
          </a:p>
          <a:p>
            <a:r>
              <a:t>Always inspect the confusion matrix to understand mistakes</a:t>
            </a:r>
          </a:p>
          <a:p>
            <a:r>
              <a:t>Report class support and use stratified splits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Python Snippet (scikit‑learn)</a:t>
            </a:r>
          </a:p>
        </p:txBody>
      </p:sp>
      <p:sp>
        <p:nvSpPr>
          <p:cNvPr id="3" name="Content Placeholder 2"/>
          <p:cNvSpPr>
            <a:spLocks noGrp="1"/>
          </p:cNvSpPr>
          <p:nvPr>
            <p:ph idx="1"/>
          </p:nvPr>
        </p:nvSpPr>
        <p:spPr/>
        <p:txBody>
          <a:bodyPr>
            <a:normAutofit fontScale="85000" lnSpcReduction="20000"/>
          </a:bodyPr>
          <a:lstStyle/>
          <a:p>
            <a:r>
              <a:t>from sklearn.metrics import precision_score, recall_score, f1_score, accuracy_score, confusion_matrix</a:t>
            </a:r>
          </a:p>
          <a:p>
            <a:r>
              <a:t>y_true = [1,0,1,1,0,0,1]</a:t>
            </a:r>
          </a:p>
          <a:p>
            <a:r>
              <a:t>y_pred = [1,0,1,0,0,1,1]</a:t>
            </a:r>
          </a:p>
          <a:p>
            <a:r>
              <a:t>print('Precision:', precision_score(y_true, y_pred))</a:t>
            </a:r>
          </a:p>
          <a:p>
            <a:r>
              <a:t>print('Recall:', recall_score(y_true, y_pred))</a:t>
            </a:r>
          </a:p>
          <a:p>
            <a:r>
              <a:t>print('F1:', f1_score(y_true, y_pred))</a:t>
            </a:r>
          </a:p>
          <a:p>
            <a:r>
              <a:t>print('Accuracy:', accuracy_score(y_true, y_pred))</a:t>
            </a:r>
          </a:p>
          <a:p>
            <a:r>
              <a:t>print('Confusion matrix:\n', confusion_matrix(y_true, y_pred))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Precision: quality of positives • Recall: coverage of positives • F1: balance of both</a:t>
            </a:r>
          </a:p>
          <a:p>
            <a:r>
              <a:t>Confusion matrix + multiple metrics are essential</a:t>
            </a:r>
          </a:p>
          <a:p>
            <a:r>
              <a:t>Pick metrics based on business costs of FP vs FN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3156-0266-F5C7-75DD-93C31459E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4753D-4B9C-CD75-3888-063CA223DD13}"/>
              </a:ext>
            </a:extLst>
          </p:cNvPr>
          <p:cNvSpPr>
            <a:spLocks noGrp="1"/>
          </p:cNvSpPr>
          <p:nvPr>
            <p:ph type="title"/>
          </p:nvPr>
        </p:nvSpPr>
        <p:spPr/>
        <p:txBody>
          <a:bodyPr/>
          <a:lstStyle/>
          <a:p>
            <a:r>
              <a:rPr lang="en-US" dirty="0"/>
              <a:t>Silhouette score</a:t>
            </a:r>
            <a:endParaRPr dirty="0"/>
          </a:p>
        </p:txBody>
      </p:sp>
      <p:sp>
        <p:nvSpPr>
          <p:cNvPr id="3" name="Content Placeholder 2">
            <a:extLst>
              <a:ext uri="{FF2B5EF4-FFF2-40B4-BE49-F238E27FC236}">
                <a16:creationId xmlns:a16="http://schemas.microsoft.com/office/drawing/2014/main" id="{C74A833B-394D-4F67-70B1-9B2B182E4CCB}"/>
              </a:ext>
            </a:extLst>
          </p:cNvPr>
          <p:cNvSpPr>
            <a:spLocks noGrp="1"/>
          </p:cNvSpPr>
          <p:nvPr>
            <p:ph idx="1"/>
          </p:nvPr>
        </p:nvSpPr>
        <p:spPr/>
        <p:txBody>
          <a:bodyPr>
            <a:normAutofit fontScale="47500" lnSpcReduction="20000"/>
          </a:bodyPr>
          <a:lstStyle/>
          <a:p>
            <a:r>
              <a:rPr lang="en-US" dirty="0"/>
              <a:t>The silhouette score is a metric used to evaluate the quality of clusters created by algorithms like K-Means. It measures how similar an object is to its own cluster compared to other clusters.</a:t>
            </a:r>
          </a:p>
          <a:p>
            <a:r>
              <a:rPr lang="en-US" dirty="0"/>
              <a:t>Here's a breakdown:</a:t>
            </a:r>
          </a:p>
          <a:p>
            <a:r>
              <a:rPr lang="en-US" dirty="0"/>
              <a:t>For each data point, a silhouette score is calculated.</a:t>
            </a:r>
          </a:p>
          <a:p>
            <a:r>
              <a:rPr lang="en-US" dirty="0"/>
              <a:t>The score ranges from -1 to +1.</a:t>
            </a:r>
          </a:p>
          <a:p>
            <a:r>
              <a:rPr lang="en-US" dirty="0"/>
              <a:t>A score close to +1 indicates that the data point is well-clustered and far from neighboring clusters.</a:t>
            </a:r>
          </a:p>
          <a:p>
            <a:r>
              <a:rPr lang="en-US" dirty="0"/>
              <a:t>A score close to 0 suggests that the data point is on or near the decision boundary between two neighboring clusters.</a:t>
            </a:r>
          </a:p>
          <a:p>
            <a:r>
              <a:rPr lang="en-US" dirty="0"/>
              <a:t>A score close to -1 indicates that the data point might have been assigned to the wrong cluster.</a:t>
            </a:r>
          </a:p>
          <a:p>
            <a:r>
              <a:rPr lang="en-US" dirty="0"/>
              <a:t>The overall silhouette score for a set of clusters is the average of the silhouette scores for all data points. A higher average silhouette score generally indicates better-defined and separated clusters.</a:t>
            </a:r>
          </a:p>
          <a:p>
            <a:r>
              <a:rPr lang="en-US" dirty="0"/>
              <a:t>In the context of determining the optimal number of clusters (as shown in cell 9c5099e0), you would calculate the silhouette score for different values of 'k' (number of clusters) and choose the 'k' that yields the highest silhouette score. This helps in identifying the number of clusters that results in the most cohesive and well-separated groupings of data points.</a:t>
            </a:r>
          </a:p>
        </p:txBody>
      </p:sp>
    </p:spTree>
    <p:extLst>
      <p:ext uri="{BB962C8B-B14F-4D97-AF65-F5344CB8AC3E}">
        <p14:creationId xmlns:p14="http://schemas.microsoft.com/office/powerpoint/2010/main" val="1033220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889</Words>
  <Application>Microsoft Office PowerPoint</Application>
  <PresentationFormat>On-screen Show (4:3)</PresentationFormat>
  <Paragraphs>74</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Precision, Recall, F1‑Score (Cheat‑Sheet)</vt:lpstr>
      <vt:lpstr>Key Terms (Binary Classification)</vt:lpstr>
      <vt:lpstr>Confusion Matrix</vt:lpstr>
      <vt:lpstr>Core Metrics &amp; Formulas</vt:lpstr>
      <vt:lpstr>Tiny Numeric Example (All Calculations)</vt:lpstr>
      <vt:lpstr>When to Optimize What?</vt:lpstr>
      <vt:lpstr>Multiclass Metrics (Averaging)</vt:lpstr>
      <vt:lpstr>Practical Tips &amp; Pitfalls</vt:lpstr>
      <vt:lpstr>Python Snippet (scikit‑learn)</vt:lpstr>
      <vt:lpstr>Summary</vt:lpstr>
      <vt:lpstr>Silhouette score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raghu prasad konandur</cp:lastModifiedBy>
  <cp:revision>2</cp:revision>
  <dcterms:created xsi:type="dcterms:W3CDTF">2013-01-27T09:14:16Z</dcterms:created>
  <dcterms:modified xsi:type="dcterms:W3CDTF">2025-09-18T00:58:08Z</dcterms:modified>
  <cp:category/>
</cp:coreProperties>
</file>